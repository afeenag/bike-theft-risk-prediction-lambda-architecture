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9D3AB-D267-7E87-4D59-ADA560750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DF5829-FFC4-33F2-F51C-CED18AB7D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65726-8AAE-F017-0210-48D1FE628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6C4A-9EFE-4C52-BCA2-C91857FAE951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BB6F0-D67D-3AF7-079B-A45964661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BD098-FAE6-BCD4-50FE-3DEEC2B5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2E03-F81D-4584-8CC0-AD6AADE90D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3545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516B6-3111-BC8D-D0AA-5BB0684DE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937B9-09B5-D08E-D44D-DB41033E6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D77A9-F5F6-13EB-47E6-AC2BBFB6E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6C4A-9EFE-4C52-BCA2-C91857FAE951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0B689-CDF6-F1D3-6C48-76D2F48F7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8F6E3-4F0B-D7D8-1686-DC31C3547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2E03-F81D-4584-8CC0-AD6AADE90D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971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DD51D-380B-9640-EAB5-7D408A33A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7A5C6-3CCF-B662-8AE3-50D4CA449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2FDD2-15AE-340D-98DE-FFEAC113A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6C4A-9EFE-4C52-BCA2-C91857FAE951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795E9-B809-CF58-160E-6C094110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2A901-4D6F-9760-9559-9D53998F5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2E03-F81D-4584-8CC0-AD6AADE90D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0257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D5D9E-BE9A-EFFC-D1A8-BDFD0AC61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6D619-30CD-9901-E263-9B3DAC05F2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42820-6BBC-8372-6A3E-A9A71BFAF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ABAD9-15AE-DEB1-CFE4-35FF08DD0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6C4A-9EFE-4C52-BCA2-C91857FAE951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4D173-7B4C-E1F1-09ED-CDB19B941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598EE-C21E-FFF2-BBC0-C5607BFAA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2E03-F81D-4584-8CC0-AD6AADE90D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7233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88517-762F-B863-1C83-4525CB06B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99067-B907-ABFA-440C-0EA254271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051FB-34CC-96B5-5272-DD7FD018A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F731CA-EC56-49D3-C0D2-A191A3B37A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24F635-4749-4395-CE1B-F87959E935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F767AA-1556-360E-DCBF-A4E8DCCE7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6C4A-9EFE-4C52-BCA2-C91857FAE951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D9C52A-B871-87B2-4BD3-7DDBD8A4F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1A7F5B-8BE9-B966-9BEF-6465AB68A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2E03-F81D-4584-8CC0-AD6AADE90D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1686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505E0-3F57-9E26-A1C7-6EAF489A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836C79-3D9C-B62F-7C2C-812087AB6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6C4A-9EFE-4C52-BCA2-C91857FAE951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45860-A3B0-5CC0-AF2B-69E787CCE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05D6-0214-399F-5E8A-5863965B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2E03-F81D-4584-8CC0-AD6AADE90D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9604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A80B64-09E8-7B52-5740-8234FD4E6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6C4A-9EFE-4C52-BCA2-C91857FAE951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BBA34B-1953-4095-995C-626379289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1FC0A-98DC-3C2B-2284-8DE55C577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2E03-F81D-4584-8CC0-AD6AADE90D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365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23B44-0CC5-A018-B107-949EAA1E5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5C1FA-E89C-F19B-8AE4-9D953BC4B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A9BB59-4DE8-3F23-0955-9822CAF5B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56B24-4774-7D19-AABD-0E6671FC9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6C4A-9EFE-4C52-BCA2-C91857FAE951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85564-808D-FB54-85E3-13F63045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5C036-4D3E-BA4F-E4BB-160626577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2E03-F81D-4584-8CC0-AD6AADE90D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538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9E8EF-3E6C-33F5-685F-2372BF45B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63ED78-A034-7A1A-36A8-AEBAEEFA01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A37643-0D23-E9A4-E99D-447486A53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D6C298-7D69-6E64-9571-47D8BCDFD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6C4A-9EFE-4C52-BCA2-C91857FAE951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911D9-0ABE-60A1-CEA8-F26D9BFF2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7B1CC-C83B-0638-5550-D02B11638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2E03-F81D-4584-8CC0-AD6AADE90D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3110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03F1E-E1EC-1DE4-72DA-8038B7960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71A767-0019-0310-24C2-8EA3D3125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8291A-9AAA-417E-48CC-727D8970F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6C4A-9EFE-4C52-BCA2-C91857FAE951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57241-A84D-7FFD-21B1-A66CA8B31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96A7B-0778-45F5-D628-56CCE7D30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2E03-F81D-4584-8CC0-AD6AADE90D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0047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9447C0-AC95-14C5-F5F7-7448D22E4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C23D2B-603D-846C-9557-2B18203D3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F4C47-DAA3-1DFF-85C6-ADAACF701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46C4A-9EFE-4C52-BCA2-C91857FAE951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6C755-E147-9DFB-3CFE-BF0E2225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9030A-9D70-F727-1267-55F85E663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2E03-F81D-4584-8CC0-AD6AADE90D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444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98D06C-4988-6445-7915-77D99E065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CF17D-2A60-AD60-5941-CE609A6D7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0C578-FE0C-C6A2-66EC-6444243537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D46C4A-9EFE-4C52-BCA2-C91857FAE951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618B4-A286-326D-04BB-EC24E2E88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D1203-8CF1-D3B8-6B43-CC85088B1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0E2E03-F81D-4584-8CC0-AD6AADE90D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258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0B159-2FA7-41D9-E5DF-6DE8CE21FE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Predicting Bicycle Theft Risk Using Big Data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5464A-4E0F-BB97-55A4-ECC7457F5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87600"/>
          </a:xfrm>
        </p:spPr>
        <p:txBody>
          <a:bodyPr/>
          <a:lstStyle/>
          <a:p>
            <a:r>
              <a:rPr lang="en-CA" dirty="0"/>
              <a:t>(</a:t>
            </a:r>
            <a:r>
              <a:rPr lang="en-US" dirty="0"/>
              <a:t>Lambda Architecture + Real-Time Machine Learning)</a:t>
            </a:r>
            <a:br>
              <a:rPr lang="en-US" dirty="0"/>
            </a:br>
            <a:r>
              <a:rPr lang="en-US" dirty="0"/>
              <a:t>Afeena Gafoor</a:t>
            </a:r>
            <a:br>
              <a:rPr lang="en-US" dirty="0"/>
            </a:br>
            <a:r>
              <a:rPr lang="en-US" dirty="0"/>
              <a:t>MBAI 5100G</a:t>
            </a:r>
          </a:p>
          <a:p>
            <a:r>
              <a:rPr lang="en-US" dirty="0"/>
              <a:t>Big Data Systems Design</a:t>
            </a:r>
            <a:br>
              <a:rPr lang="en-US" dirty="0"/>
            </a:br>
            <a:r>
              <a:rPr lang="en-US" dirty="0"/>
              <a:t>31 March, 2026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45629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07780-D976-3851-92B6-2634CF66B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787F1-E80B-5EFA-C661-4F6D2BA8A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2B1C9-ED8B-5C6C-6559-2163558C8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Nighttime = </a:t>
            </a:r>
            <a:r>
              <a:rPr lang="en-US" b="1" dirty="0"/>
              <a:t>highest theft risk</a:t>
            </a:r>
            <a:r>
              <a:rPr lang="en-US" dirty="0"/>
              <a:t> </a:t>
            </a:r>
          </a:p>
          <a:p>
            <a:r>
              <a:rPr lang="en-US" dirty="0"/>
              <a:t>Apartments/condos = </a:t>
            </a:r>
            <a:r>
              <a:rPr lang="en-US" b="1" dirty="0"/>
              <a:t>most targeted locations</a:t>
            </a:r>
          </a:p>
          <a:p>
            <a:r>
              <a:rPr lang="en-CA" dirty="0"/>
              <a:t>Downtown waterfront = </a:t>
            </a:r>
            <a:r>
              <a:rPr lang="en-CA" b="1" dirty="0"/>
              <a:t>major hotspot</a:t>
            </a:r>
          </a:p>
          <a:p>
            <a:r>
              <a:rPr lang="en-US" dirty="0"/>
              <a:t>Private spaces &gt; public areas in theft risk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97732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00B88-B372-7735-0D5F-56B64B99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Data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E7B7F6-4BFD-773A-7AB9-7A935FCD018B}"/>
              </a:ext>
            </a:extLst>
          </p:cNvPr>
          <p:cNvSpPr txBox="1">
            <a:spLocks/>
          </p:cNvSpPr>
          <p:nvPr/>
        </p:nvSpPr>
        <p:spPr>
          <a:xfrm>
            <a:off x="4299857" y="1825625"/>
            <a:ext cx="3189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CA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68FB91-F166-C199-4210-EE3A0C2E8065}"/>
              </a:ext>
            </a:extLst>
          </p:cNvPr>
          <p:cNvSpPr txBox="1">
            <a:spLocks/>
          </p:cNvSpPr>
          <p:nvPr/>
        </p:nvSpPr>
        <p:spPr>
          <a:xfrm>
            <a:off x="7903029" y="1825625"/>
            <a:ext cx="3189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CA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7226E42-9DE7-DCBD-E376-E79E03A57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89514" cy="4351338"/>
          </a:xfrm>
        </p:spPr>
        <p:txBody>
          <a:bodyPr/>
          <a:lstStyle/>
          <a:p>
            <a:r>
              <a:rPr lang="en-US" dirty="0"/>
              <a:t>Night = 8613</a:t>
            </a:r>
          </a:p>
          <a:p>
            <a:r>
              <a:rPr lang="en-US" dirty="0"/>
              <a:t>Morning = 	8411</a:t>
            </a:r>
          </a:p>
          <a:p>
            <a:r>
              <a:rPr lang="en-US" dirty="0"/>
              <a:t>Afternoon= 8157</a:t>
            </a:r>
          </a:p>
          <a:p>
            <a:r>
              <a:rPr lang="en-US" dirty="0"/>
              <a:t>Evening = 	5649</a:t>
            </a:r>
            <a:endParaRPr lang="en-CA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6415D67E-D660-2ADE-EA7B-1F4DC8E70693}"/>
              </a:ext>
            </a:extLst>
          </p:cNvPr>
          <p:cNvSpPr txBox="1">
            <a:spLocks/>
          </p:cNvSpPr>
          <p:nvPr/>
        </p:nvSpPr>
        <p:spPr>
          <a:xfrm>
            <a:off x="4288972" y="1825625"/>
            <a:ext cx="3189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Night	Apartment (Rooming House, Condo)	2479</a:t>
            </a:r>
          </a:p>
          <a:p>
            <a:r>
              <a:rPr lang="en-US" dirty="0"/>
              <a:t>Night	Single Home, House (Attach Garage, Cottage, Mobile)	1865</a:t>
            </a:r>
          </a:p>
          <a:p>
            <a:r>
              <a:rPr lang="en-US" dirty="0"/>
              <a:t>Night	Streets, Roads, Highways (Bicycle Path, Private Road)	1265</a:t>
            </a:r>
          </a:p>
          <a:p>
            <a:r>
              <a:rPr lang="en-US" dirty="0"/>
              <a:t>Night	Private Property Structure (Pool, Shed, Detached Garage)	995</a:t>
            </a:r>
          </a:p>
          <a:p>
            <a:r>
              <a:rPr lang="en-US" dirty="0"/>
              <a:t>Night	Parking Lots (Apt., Commercial Or Non-Commercial)	673</a:t>
            </a:r>
            <a:endParaRPr lang="en-CA" dirty="0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FE262F29-5FD1-DA89-BF97-D53A1FD2EFDE}"/>
              </a:ext>
            </a:extLst>
          </p:cNvPr>
          <p:cNvSpPr txBox="1">
            <a:spLocks/>
          </p:cNvSpPr>
          <p:nvPr/>
        </p:nvSpPr>
        <p:spPr>
          <a:xfrm>
            <a:off x="7739744" y="1825625"/>
            <a:ext cx="31895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Night	Apartment (Rooming House, Condo)	St Lawrence-East Bayfront-The Islands (166)Waterfront Communities-The Island (77)	147</a:t>
            </a:r>
          </a:p>
          <a:p>
            <a:r>
              <a:rPr lang="en-US" dirty="0"/>
              <a:t>Night	Apartment (Rooming House, Condo)	Wellington Place (164)Waterfront Communities-The Island (77)	140</a:t>
            </a:r>
          </a:p>
          <a:p>
            <a:r>
              <a:rPr lang="en-US" dirty="0"/>
              <a:t>Night	Apartment (Rooming House, Condo)	</a:t>
            </a:r>
            <a:r>
              <a:rPr lang="en-US" dirty="0" err="1"/>
              <a:t>Harbourfront</a:t>
            </a:r>
            <a:r>
              <a:rPr lang="en-US" dirty="0"/>
              <a:t>-CityPlace (165)Waterfront Communities-The Island (77)	135</a:t>
            </a:r>
          </a:p>
          <a:p>
            <a:r>
              <a:rPr lang="en-US" dirty="0"/>
              <a:t>Night	Apartment (Rooming House, Condo)	Annex (95)Annex (95)	130</a:t>
            </a:r>
          </a:p>
          <a:p>
            <a:r>
              <a:rPr lang="en-US" dirty="0"/>
              <a:t>Night	Apartment (Rooming House, Condo)	Fort York-Liberty Village (163)Niagara (82)	121</a:t>
            </a:r>
          </a:p>
          <a:p>
            <a:r>
              <a:rPr lang="en-US" dirty="0"/>
              <a:t>Night	Apartment (Rooming House, Condo)	Moss Park (73)Moss Park (73)	118</a:t>
            </a:r>
          </a:p>
        </p:txBody>
      </p:sp>
    </p:spTree>
    <p:extLst>
      <p:ext uri="{BB962C8B-B14F-4D97-AF65-F5344CB8AC3E}">
        <p14:creationId xmlns:p14="http://schemas.microsoft.com/office/powerpoint/2010/main" val="3847272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82E8-7F66-96B1-088B-5A9D0BEA4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Mitigating Bicycle Thefts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2CFB3-2D0E-7E4C-0426-6B2B66A1E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City: police patrolling apartment complexes 6 PM and midnight.</a:t>
            </a:r>
          </a:p>
          <a:p>
            <a:r>
              <a:rPr lang="en-US" dirty="0"/>
              <a:t>Residents:</a:t>
            </a:r>
          </a:p>
          <a:p>
            <a:pPr lvl="1"/>
            <a:r>
              <a:rPr lang="en-US" dirty="0"/>
              <a:t>Safely secure their bikes</a:t>
            </a:r>
          </a:p>
          <a:p>
            <a:pPr lvl="1"/>
            <a:r>
              <a:rPr lang="en-US" dirty="0"/>
              <a:t>Use the “Bike Guard” app- predicts Risk Level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36037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F3E06-E7BE-8F1E-2546-FE9975BA3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08C80-2BBC-E00F-D36B-6D8085DC8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Big Data Pipeline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CF55CE-8643-8E29-35D4-22E08EB3D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114" y="1560514"/>
            <a:ext cx="8744399" cy="433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190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311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Predicting Bicycle Theft Risk Using Big Data</vt:lpstr>
      <vt:lpstr>Key Insights</vt:lpstr>
      <vt:lpstr>The Data</vt:lpstr>
      <vt:lpstr>Mitigating Bicycle Thefts</vt:lpstr>
      <vt:lpstr>Big Data 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Afeena Gafoor</dc:creator>
  <cp:lastModifiedBy>Afeena Gafoor</cp:lastModifiedBy>
  <cp:revision>6</cp:revision>
  <dcterms:created xsi:type="dcterms:W3CDTF">2026-03-30T15:32:26Z</dcterms:created>
  <dcterms:modified xsi:type="dcterms:W3CDTF">2026-03-30T17:37:56Z</dcterms:modified>
</cp:coreProperties>
</file>